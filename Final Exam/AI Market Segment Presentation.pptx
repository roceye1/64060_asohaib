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94341-9FF1-3F38-1A87-B25276D97C30}" v="149" dt="2026-04-30T20:16:51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Calibri"/>
              </a:defRPr>
            </a:pPr>
            <a:r>
              <a:rPr lang="en-GB" sz="1400" b="1" i="0" u="none" strike="noStrike">
                <a:solidFill>
                  <a:srgbClr val="0B1F3A"/>
                </a:solidFill>
                <a:latin typeface="Calibri"/>
              </a:rPr>
              <a:t>Average AI Hiring Index by Strategic Zone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Hiring Index (%)</c:v>
                </c:pt>
              </c:strCache>
            </c:strRef>
          </c:tx>
          <c:spPr>
            <a:solidFill>
              <a:srgbClr val="2E8B57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50-45A2-8D37-EB7408B9D2C2}"/>
              </c:ext>
            </c:extLst>
          </c:dPt>
          <c:dPt>
            <c:idx val="1"/>
            <c:invertIfNegative val="0"/>
            <c:bubble3D val="0"/>
            <c:spPr>
              <a:solidFill>
                <a:srgbClr val="4682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50-45A2-8D37-EB7408B9D2C2}"/>
              </c:ext>
            </c:extLst>
          </c:dPt>
          <c:dPt>
            <c:idx val="2"/>
            <c:invertIfNegative val="0"/>
            <c:bubble3D val="0"/>
            <c:spPr>
              <a:solidFill>
                <a:srgbClr val="CD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50-45A2-8D37-EB7408B9D2C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High-Intensity
Expansion</c:v>
                </c:pt>
                <c:pt idx="1">
                  <c:v>Stable Core
Markets</c:v>
                </c:pt>
                <c:pt idx="2">
                  <c:v>Cautionary /
Cooling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21.06</c:v>
                </c:pt>
                <c:pt idx="1">
                  <c:v>9.39</c:v>
                </c:pt>
                <c:pt idx="2">
                  <c:v>-0.57999999999999996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50-45A2-8D37-EB7408B9D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C8CCE-0725-47AB-ABAA-79CCB2DCDEDF}" type="datetimeFigureOut"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20071-0C10-4F41-AC20-F9271E9E046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92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STRATEGIC TALENT ANALYTICS  |  FINAL REPORT</a:t>
            </a:r>
            <a:br>
              <a:rPr lang="en-US" sz="1200" b="1" kern="0" spc="600" dirty="0">
                <a:solidFill>
                  <a:srgbClr val="F4A261"/>
                </a:solidFill>
                <a:latin typeface="Calibri"/>
                <a:ea typeface="Calibri"/>
                <a:cs typeface="Calibri"/>
              </a:rPr>
            </a:br>
            <a:r>
              <a:rPr lang="en-US" sz="1200" b="1" kern="0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Aamir Sohaib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Segmenting the Global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Hiring Market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K-Means Clustering Approach to Optimizing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Recruitment Investment (2018–2025)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5394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observations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5394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11880" y="6035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5394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yrs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72200" y="6035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hiring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5394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732520" y="6035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zones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01  / PROBLEM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volatile market with no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Senior leadership must decide where and when to deploy AI recruitment budgets across global </a:t>
            </a: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markets, but monthly hiring intensity swings dramatically between countries and over time. </a:t>
            </a: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Without a structured way to read the signal, organizations miss expansion windows and overspend during contractions.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6949440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52044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67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6301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expansion windows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39593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scales up after competitors have already locked in talent.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526280"/>
            <a:ext cx="6949440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52628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731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46360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budget in cooling phases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4965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recruitment continues even as markets contract.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532120"/>
            <a:ext cx="6949440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790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56418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cross-market view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80160" y="5971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Country-by-country decisions lack a unified strategic frame.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863840" y="1691640"/>
            <a:ext cx="3749040" cy="4572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92440" y="23317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7 years of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noisy hiring data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a clear,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playbook.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092440" y="5760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OECD.AI Global Hiring Index  ·  2018–2025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02  /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strategic zones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65760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36576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0299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OECD.AI Global AI Hiring Index: 344 </a:t>
            </a: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monthly observations across Luxembourg, Ireland, Switzerland, and Germany (Jan 2018 – Feb 2025).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65760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1828800"/>
            <a:ext cx="36576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0299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cluster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2628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Hiring index values were standardized and partitioned with K-Means. The Elbow Method confirmed K = 3 as the optimal cluster count.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57600" cy="31089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38160" y="1828800"/>
            <a:ext cx="36576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124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20299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by intensity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1248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Clusters were ranked by their actual mean hiring index and labeled High Intensity Expansion, Stable Core Markets, or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Cautionary/Cooling.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" y="5650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unsupervised technique discovers natural market groupings without pre labeled categories. It is ideal for revealing hidden structure in hiring intensity.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Elbow Method provides an objective basis for selecting K = 3.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03  / RESULTS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strategic zones, one clear playbook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691640"/>
            <a:ext cx="5212080" cy="15087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691640"/>
            <a:ext cx="109728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0" y="18562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21.06%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67512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HIGH-INTENSITY EXPANSION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75120" y="2514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Aggressively scale recruitment, require more budget than usual to acquire talent before competitors. Priority focus: Ireland &amp; Luxembourg.</a:t>
            </a: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0" y="3310128"/>
            <a:ext cx="5212080" cy="15087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3310128"/>
            <a:ext cx="109728" cy="1508760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4682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67512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CORE MARKETS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75120" y="41330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Maintain steady hiring pipelines. Germany anchors long-term team building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due to moderate risk.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4928616"/>
            <a:ext cx="5212080" cy="150876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4928616"/>
            <a:ext cx="109728" cy="1508760"/>
          </a:xfrm>
          <a:prstGeom prst="rect">
            <a:avLst/>
          </a:prstGeom>
          <a:solidFill>
            <a:srgbClr val="CD5C5C"/>
          </a:solidFill>
          <a:ln w="12700">
            <a:solidFill>
              <a:srgbClr val="CD5C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0" y="50932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D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−0.58%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675120" y="5093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/ COOLING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5385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675120" y="57515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Pause aggressive external hiring. Redirect spend to retention and internal mobility. Lower operational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expense will help flatten future budgets to </a:t>
            </a:r>
            <a:r>
              <a:rPr lang="en-US" sz="12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spend on hiring.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Hiring Market Segmentation</dc:title>
  <dc:subject>PptxGenJS Presentation</dc:subject>
  <dc:creator>Strategic Talent Analytics</dc:creator>
  <cp:lastModifiedBy>Strategic Talent Analytics</cp:lastModifiedBy>
  <cp:revision>48</cp:revision>
  <dcterms:created xsi:type="dcterms:W3CDTF">2026-04-30T00:25:52Z</dcterms:created>
  <dcterms:modified xsi:type="dcterms:W3CDTF">2026-04-30T20:17:32Z</dcterms:modified>
</cp:coreProperties>
</file>